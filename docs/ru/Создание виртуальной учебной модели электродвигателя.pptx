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60" r:id="rId4"/>
    <p:sldId id="258" r:id="rId5"/>
    <p:sldId id="261" r:id="rId6"/>
    <p:sldId id="263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D1C6682C-8FB3-4B05-9394-9F0900B034E5}">
          <p14:sldIdLst>
            <p14:sldId id="256"/>
            <p14:sldId id="257"/>
            <p14:sldId id="260"/>
            <p14:sldId id="258"/>
            <p14:sldId id="261"/>
            <p14:sldId id="263"/>
            <p14:sldId id="262"/>
          </p14:sldIdLst>
        </p14:section>
        <p14:section name="Раздел без заголовка" id="{E8D0F60A-18A9-4E3F-9E5F-C42622CE077C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030303"/>
    <a:srgbClr val="404040"/>
    <a:srgbClr val="08080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0" autoAdjust="0"/>
    <p:restoredTop sz="94660"/>
  </p:normalViewPr>
  <p:slideViewPr>
    <p:cSldViewPr snapToGrid="0">
      <p:cViewPr varScale="1">
        <p:scale>
          <a:sx n="86" d="100"/>
          <a:sy n="86" d="100"/>
        </p:scale>
        <p:origin x="42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12/7/2025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12/7/2025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12/7/2025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12/7/2025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12/7/2025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12/7/2025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64000">
              <a:srgbClr val="000000"/>
            </a:gs>
            <a:gs pos="8000">
              <a:srgbClr val="080808"/>
            </a:gs>
            <a:gs pos="22000">
              <a:srgbClr val="0F0F0F"/>
            </a:gs>
            <a:gs pos="0">
              <a:schemeClr val="bg1">
                <a:lumMod val="85000"/>
                <a:lumOff val="15000"/>
              </a:schemeClr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12/7/2025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 shadeToTitle="1">
        <a:gradFill flip="none" rotWithShape="1">
          <a:gsLst>
            <a:gs pos="18000">
              <a:srgbClr val="131313"/>
            </a:gs>
            <a:gs pos="42000">
              <a:srgbClr val="000000"/>
            </a:gs>
            <a:gs pos="13000">
              <a:srgbClr val="080808"/>
            </a:gs>
            <a:gs pos="16000">
              <a:schemeClr val="bg2">
                <a:lumMod val="60000"/>
                <a:lumOff val="40000"/>
              </a:schemeClr>
            </a:gs>
            <a:gs pos="26000">
              <a:schemeClr val="bg1">
                <a:lumMod val="85000"/>
                <a:lumOff val="15000"/>
              </a:schemeClr>
            </a:gs>
          </a:gsLst>
          <a:path path="shap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6A5A6F-23A7-4950-817A-47C5231A8A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97760" y="1193483"/>
            <a:ext cx="8270239" cy="1773237"/>
          </a:xfrm>
        </p:spPr>
        <p:txBody>
          <a:bodyPr anchor="ctr">
            <a:normAutofit/>
          </a:bodyPr>
          <a:lstStyle/>
          <a:p>
            <a:pPr algn="ctr"/>
            <a:r>
              <a:rPr lang="ru-RU" sz="4000" i="1" dirty="0">
                <a:latin typeface="Comic Sans MS" panose="030F0702030302020204" pitchFamily="66" charset="0"/>
              </a:rPr>
              <a:t>Создание виртуальной учебной модели электродвигателя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40FE809-B3AD-4CA5-ADB4-17F6D17951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201606" y="5545880"/>
            <a:ext cx="2364419" cy="1890944"/>
          </a:xfrm>
        </p:spPr>
        <p:txBody>
          <a:bodyPr>
            <a:normAutofit/>
          </a:bodyPr>
          <a:lstStyle/>
          <a:p>
            <a:pPr>
              <a:lnSpc>
                <a:spcPct val="70000"/>
              </a:lnSpc>
              <a:spcBef>
                <a:spcPts val="400"/>
              </a:spcBef>
            </a:pPr>
            <a:r>
              <a:rPr lang="ru-RU" dirty="0">
                <a:solidFill>
                  <a:schemeClr val="tx1">
                    <a:lumMod val="75000"/>
                  </a:schemeClr>
                </a:solidFill>
                <a:latin typeface="Comic Sans MS" panose="030F0702030302020204" pitchFamily="66" charset="0"/>
              </a:rPr>
              <a:t>У</a:t>
            </a:r>
            <a:r>
              <a:rPr lang="ru-RU" sz="1400" dirty="0">
                <a:solidFill>
                  <a:schemeClr val="tx1">
                    <a:lumMod val="75000"/>
                  </a:schemeClr>
                </a:solidFill>
                <a:latin typeface="Comic Sans MS" panose="030F0702030302020204" pitchFamily="66" charset="0"/>
              </a:rPr>
              <a:t>частники проекта:</a:t>
            </a:r>
          </a:p>
          <a:p>
            <a:pPr>
              <a:lnSpc>
                <a:spcPct val="70000"/>
              </a:lnSpc>
              <a:spcBef>
                <a:spcPts val="400"/>
              </a:spcBef>
            </a:pPr>
            <a:r>
              <a:rPr lang="ru-RU" dirty="0">
                <a:solidFill>
                  <a:schemeClr val="tx1">
                    <a:lumMod val="75000"/>
                  </a:schemeClr>
                </a:solidFill>
                <a:latin typeface="Comic Sans MS" panose="030F0702030302020204" pitchFamily="66" charset="0"/>
              </a:rPr>
              <a:t>А</a:t>
            </a:r>
            <a:r>
              <a:rPr lang="ru-RU" sz="1400" dirty="0">
                <a:solidFill>
                  <a:schemeClr val="tx1">
                    <a:lumMod val="75000"/>
                  </a:schemeClr>
                </a:solidFill>
                <a:latin typeface="Comic Sans MS" panose="030F0702030302020204" pitchFamily="66" charset="0"/>
              </a:rPr>
              <a:t>хметов </a:t>
            </a:r>
            <a:r>
              <a:rPr lang="ru-RU" dirty="0">
                <a:solidFill>
                  <a:schemeClr val="tx1">
                    <a:lumMod val="75000"/>
                  </a:schemeClr>
                </a:solidFill>
                <a:latin typeface="Comic Sans MS" panose="030F0702030302020204" pitchFamily="66" charset="0"/>
              </a:rPr>
              <a:t>Р</a:t>
            </a:r>
            <a:r>
              <a:rPr lang="ru-RU" sz="1400" dirty="0">
                <a:solidFill>
                  <a:schemeClr val="tx1">
                    <a:lumMod val="75000"/>
                  </a:schemeClr>
                </a:solidFill>
                <a:latin typeface="Comic Sans MS" panose="030F0702030302020204" pitchFamily="66" charset="0"/>
              </a:rPr>
              <a:t>оберт</a:t>
            </a:r>
          </a:p>
          <a:p>
            <a:pPr>
              <a:lnSpc>
                <a:spcPct val="70000"/>
              </a:lnSpc>
              <a:spcBef>
                <a:spcPts val="400"/>
              </a:spcBef>
            </a:pPr>
            <a:r>
              <a:rPr lang="ru-RU" sz="2200" dirty="0">
                <a:solidFill>
                  <a:schemeClr val="tx1">
                    <a:lumMod val="75000"/>
                  </a:schemeClr>
                </a:solidFill>
                <a:latin typeface="Comic Sans MS" panose="030F0702030302020204" pitchFamily="66" charset="0"/>
              </a:rPr>
              <a:t>З</a:t>
            </a:r>
            <a:r>
              <a:rPr lang="ru-RU" sz="1400" dirty="0">
                <a:solidFill>
                  <a:schemeClr val="tx1">
                    <a:lumMod val="75000"/>
                  </a:schemeClr>
                </a:solidFill>
                <a:latin typeface="Comic Sans MS" panose="030F0702030302020204" pitchFamily="66" charset="0"/>
              </a:rPr>
              <a:t>инчук </a:t>
            </a:r>
            <a:r>
              <a:rPr lang="ru-RU" dirty="0">
                <a:solidFill>
                  <a:schemeClr val="tx1">
                    <a:lumMod val="75000"/>
                  </a:schemeClr>
                </a:solidFill>
                <a:latin typeface="Comic Sans MS" panose="030F0702030302020204" pitchFamily="66" charset="0"/>
              </a:rPr>
              <a:t>В</a:t>
            </a:r>
            <a:r>
              <a:rPr lang="ru-RU" sz="1400" dirty="0">
                <a:solidFill>
                  <a:schemeClr val="tx1">
                    <a:lumMod val="75000"/>
                  </a:schemeClr>
                </a:solidFill>
                <a:latin typeface="Comic Sans MS" panose="030F0702030302020204" pitchFamily="66" charset="0"/>
              </a:rPr>
              <a:t>ладимир</a:t>
            </a:r>
          </a:p>
          <a:p>
            <a:pPr>
              <a:lnSpc>
                <a:spcPct val="70000"/>
              </a:lnSpc>
              <a:spcBef>
                <a:spcPts val="400"/>
              </a:spcBef>
            </a:pPr>
            <a:r>
              <a:rPr lang="ru-RU" sz="2200" dirty="0">
                <a:solidFill>
                  <a:schemeClr val="tx1">
                    <a:lumMod val="75000"/>
                  </a:schemeClr>
                </a:solidFill>
                <a:latin typeface="Comic Sans MS" panose="030F0702030302020204" pitchFamily="66" charset="0"/>
              </a:rPr>
              <a:t>И</a:t>
            </a:r>
            <a:r>
              <a:rPr lang="ru-RU" sz="1400" dirty="0">
                <a:solidFill>
                  <a:schemeClr val="tx1">
                    <a:lumMod val="75000"/>
                  </a:schemeClr>
                </a:solidFill>
                <a:latin typeface="Comic Sans MS" panose="030F0702030302020204" pitchFamily="66" charset="0"/>
              </a:rPr>
              <a:t>бятов </a:t>
            </a:r>
            <a:r>
              <a:rPr lang="ru-RU" sz="2400" dirty="0">
                <a:solidFill>
                  <a:schemeClr val="tx1">
                    <a:lumMod val="75000"/>
                  </a:schemeClr>
                </a:solidFill>
                <a:latin typeface="Comic Sans MS" panose="030F0702030302020204" pitchFamily="66" charset="0"/>
              </a:rPr>
              <a:t>Т</a:t>
            </a:r>
            <a:r>
              <a:rPr lang="ru-RU" sz="1400" dirty="0">
                <a:solidFill>
                  <a:schemeClr val="tx1">
                    <a:lumMod val="75000"/>
                  </a:schemeClr>
                </a:solidFill>
                <a:latin typeface="Comic Sans MS" panose="030F0702030302020204" pitchFamily="66" charset="0"/>
              </a:rPr>
              <a:t>имур</a:t>
            </a:r>
            <a:endParaRPr lang="ru-RU" dirty="0">
              <a:solidFill>
                <a:schemeClr val="tx1">
                  <a:lumMod val="75000"/>
                </a:schemeClr>
              </a:solidFill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18988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7E16CC-F503-4B66-9D99-A4EBC5ADE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940" y="618518"/>
            <a:ext cx="5770485" cy="1006095"/>
          </a:xfrm>
          <a:noFill/>
        </p:spPr>
        <p:txBody>
          <a:bodyPr>
            <a:normAutofit/>
          </a:bodyPr>
          <a:lstStyle/>
          <a:p>
            <a:pPr algn="ctr"/>
            <a:r>
              <a:rPr lang="ru-RU" sz="4400" dirty="0">
                <a:latin typeface="Comic Sans MS" panose="030F0702030302020204" pitchFamily="66" charset="0"/>
              </a:rPr>
              <a:t>Ц</a:t>
            </a:r>
            <a:r>
              <a:rPr lang="ru-RU" dirty="0">
                <a:latin typeface="Comic Sans MS" panose="030F0702030302020204" pitchFamily="66" charset="0"/>
              </a:rPr>
              <a:t>ель</a:t>
            </a:r>
            <a:r>
              <a:rPr lang="ru-RU" sz="3200" dirty="0">
                <a:latin typeface="Comic Sans MS" panose="030F0702030302020204" pitchFamily="66" charset="0"/>
              </a:rPr>
              <a:t> </a:t>
            </a:r>
            <a:r>
              <a:rPr lang="ru-RU" dirty="0">
                <a:latin typeface="Comic Sans MS" panose="030F0702030302020204" pitchFamily="66" charset="0"/>
              </a:rPr>
              <a:t>проекта: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9EC360F-65AB-4274-ABD5-19FD1D26BE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3200" dirty="0">
                <a:latin typeface="Comic Sans MS" panose="030F0702030302020204" pitchFamily="66" charset="0"/>
              </a:rPr>
              <a:t>Создание виртуальной учебной модели электродвигателя</a:t>
            </a:r>
          </a:p>
        </p:txBody>
      </p:sp>
    </p:spTree>
    <p:extLst>
      <p:ext uri="{BB962C8B-B14F-4D97-AF65-F5344CB8AC3E}">
        <p14:creationId xmlns:p14="http://schemas.microsoft.com/office/powerpoint/2010/main" val="17626165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B5F611D9-975C-424C-B9F6-15643D16A6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25118" y="577049"/>
            <a:ext cx="9822293" cy="52141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3600" dirty="0">
                <a:latin typeface="Comic Sans MS" panose="030F0702030302020204" pitchFamily="66" charset="0"/>
              </a:rPr>
              <a:t>Актуальность проекта:</a:t>
            </a:r>
          </a:p>
          <a:p>
            <a:pPr marL="0" indent="0">
              <a:buNone/>
            </a:pPr>
            <a:r>
              <a:rPr lang="ru-RU" sz="2800" dirty="0">
                <a:latin typeface="Comic Sans MS" panose="030F0702030302020204" pitchFamily="66" charset="0"/>
              </a:rPr>
              <a:t> В современном образовании всё чаще используются учебные интерактивные модели для повышения эффективности осознания материала.</a:t>
            </a:r>
          </a:p>
          <a:p>
            <a:pPr marL="0" indent="0">
              <a:buNone/>
            </a:pPr>
            <a:r>
              <a:rPr lang="ru-RU" sz="2800" dirty="0">
                <a:latin typeface="Comic Sans MS" panose="030F0702030302020204" pitchFamily="66" charset="0"/>
              </a:rPr>
              <a:t> Создание учебной 3</a:t>
            </a:r>
            <a:r>
              <a:rPr lang="en-US" sz="2800" dirty="0">
                <a:latin typeface="Comic Sans MS" panose="030F0702030302020204" pitchFamily="66" charset="0"/>
              </a:rPr>
              <a:t>D</a:t>
            </a:r>
            <a:r>
              <a:rPr lang="ru-RU" sz="2800" dirty="0">
                <a:latin typeface="Comic Sans MS" panose="030F0702030302020204" pitchFamily="66" charset="0"/>
              </a:rPr>
              <a:t>-модели электродвигателя это хороший инструмент для обучения студентов и школьников.</a:t>
            </a:r>
          </a:p>
        </p:txBody>
      </p:sp>
    </p:spTree>
    <p:extLst>
      <p:ext uri="{BB962C8B-B14F-4D97-AF65-F5344CB8AC3E}">
        <p14:creationId xmlns:p14="http://schemas.microsoft.com/office/powerpoint/2010/main" val="1133063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AAC47C-B355-428A-9730-3DCA6782D9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8004" y="618518"/>
            <a:ext cx="5513033" cy="1478570"/>
          </a:xfrm>
        </p:spPr>
        <p:txBody>
          <a:bodyPr>
            <a:normAutofit/>
          </a:bodyPr>
          <a:lstStyle/>
          <a:p>
            <a:pPr algn="ctr"/>
            <a:r>
              <a:rPr lang="ru-RU" sz="4400" dirty="0">
                <a:latin typeface="Comic Sans MS" panose="030F0702030302020204" pitchFamily="66" charset="0"/>
              </a:rPr>
              <a:t>Задачи  П</a:t>
            </a:r>
            <a:r>
              <a:rPr lang="ru-RU" dirty="0">
                <a:latin typeface="Comic Sans MS" panose="030F0702030302020204" pitchFamily="66" charset="0"/>
              </a:rPr>
              <a:t>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30D18D6-6630-433D-AFF3-CB43ED8E6C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4202113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sz="2800" b="0" i="0" dirty="0">
                <a:effectLst/>
                <a:latin typeface="Comic Sans MS" panose="030F0702030302020204" pitchFamily="66" charset="0"/>
              </a:rPr>
              <a:t>1. Определить целевую аудиторию</a:t>
            </a:r>
          </a:p>
          <a:p>
            <a:pPr marL="0" indent="0" algn="l">
              <a:buNone/>
            </a:pPr>
            <a:r>
              <a:rPr lang="ru-RU" sz="2800" b="0" i="0" dirty="0">
                <a:effectLst/>
                <a:latin typeface="Comic Sans MS" panose="030F0702030302020204" pitchFamily="66" charset="0"/>
              </a:rPr>
              <a:t>2.​​​​​​​ Определить уровень сложности модели</a:t>
            </a:r>
          </a:p>
          <a:p>
            <a:pPr marL="0" indent="0" algn="l">
              <a:buNone/>
            </a:pPr>
            <a:r>
              <a:rPr lang="ru-RU" sz="2800" b="0" i="0" dirty="0">
                <a:effectLst/>
                <a:latin typeface="Comic Sans MS" panose="030F0702030302020204" pitchFamily="66" charset="0"/>
              </a:rPr>
              <a:t>3. Обеспечение взаимодействия с моделью</a:t>
            </a:r>
          </a:p>
          <a:p>
            <a:pPr marL="0" indent="0" algn="l">
              <a:buNone/>
            </a:pPr>
            <a:r>
              <a:rPr lang="ru-RU" sz="2800" b="0" i="0" dirty="0">
                <a:effectLst/>
                <a:latin typeface="Comic Sans MS" panose="030F0702030302020204" pitchFamily="66" charset="0"/>
              </a:rPr>
              <a:t>​​​​​​​4. Создание модели</a:t>
            </a:r>
          </a:p>
          <a:p>
            <a:pPr marL="0" indent="0" algn="l">
              <a:buNone/>
            </a:pPr>
            <a:r>
              <a:rPr lang="ru-RU" sz="2800" dirty="0">
                <a:latin typeface="Comic Sans MS" panose="030F0702030302020204" pitchFamily="66" charset="0"/>
              </a:rPr>
              <a:t>5.</a:t>
            </a:r>
            <a:r>
              <a:rPr lang="ru-RU" sz="2800" b="0" i="0" dirty="0">
                <a:effectLst/>
                <a:latin typeface="Comic Sans MS" panose="030F0702030302020204" pitchFamily="66" charset="0"/>
              </a:rPr>
              <a:t> Создание презентационных материалов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450352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A03B06-BEF2-43A3-A9AB-E4843A704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dirty="0">
                <a:latin typeface="Comic Sans MS" panose="030F0702030302020204" pitchFamily="66" charset="0"/>
              </a:rPr>
              <a:t>Вывод: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CEBD85F-9EA0-4F9F-90A0-9CE478AB59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1837678"/>
            <a:ext cx="9905998" cy="46962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800" dirty="0">
                <a:latin typeface="Comic Sans MS" panose="030F0702030302020204" pitchFamily="66" charset="0"/>
              </a:rPr>
              <a:t>В </a:t>
            </a:r>
            <a:r>
              <a:rPr lang="ru-RU" sz="2800" b="0" i="0" dirty="0">
                <a:effectLst/>
                <a:latin typeface="Comic Sans MS" panose="030F0702030302020204" pitchFamily="66" charset="0"/>
              </a:rPr>
              <a:t> заключение, создание учебной  модели электродвигателя – это многогранная задача, требующая сочетания инженерных знаний, навыков программирования и 3</a:t>
            </a:r>
            <a:r>
              <a:rPr lang="en-US" sz="2800" b="0" i="0" dirty="0">
                <a:effectLst/>
                <a:latin typeface="Comic Sans MS" panose="030F0702030302020204" pitchFamily="66" charset="0"/>
              </a:rPr>
              <a:t>D-</a:t>
            </a:r>
            <a:r>
              <a:rPr lang="ru-RU" sz="2800" b="0" i="0" dirty="0">
                <a:effectLst/>
                <a:latin typeface="Comic Sans MS" panose="030F0702030302020204" pitchFamily="66" charset="0"/>
              </a:rPr>
              <a:t>моделирования. Реализация этого проекта является ценным инструментом для современного образования, способствуя углубленному пониманию фундаментальных законов физики и электротехники.</a:t>
            </a:r>
            <a:endParaRPr lang="ru-RU" sz="2800" dirty="0"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13091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8018AC76-282C-4EFA-9E02-09D06D4AF1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976544"/>
            <a:ext cx="9905999" cy="48146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800" b="0" i="0" dirty="0">
                <a:effectLst/>
                <a:latin typeface="Comic Sans MS" panose="030F0702030302020204" pitchFamily="66" charset="0"/>
              </a:rPr>
              <a:t>Важным аспектом является возможность модификации параметров двигателя и мгновенная оценка последствий этих изменений. Это позволяет учащимся понять взаимосвязи между конструктивными особенностями и эксплуатационными характеристиками электродвигателя.</a:t>
            </a:r>
          </a:p>
          <a:p>
            <a:pPr marL="0" indent="0" algn="ctr">
              <a:buNone/>
            </a:pPr>
            <a:r>
              <a:rPr lang="ru-RU" sz="2800" dirty="0">
                <a:latin typeface="Comic Sans MS" panose="030F0702030302020204" pitchFamily="66" charset="0"/>
              </a:rPr>
              <a:t>(можешь удалить если хочешь)</a:t>
            </a:r>
          </a:p>
        </p:txBody>
      </p:sp>
    </p:spTree>
    <p:extLst>
      <p:ext uri="{BB962C8B-B14F-4D97-AF65-F5344CB8AC3E}">
        <p14:creationId xmlns:p14="http://schemas.microsoft.com/office/powerpoint/2010/main" val="6421275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05A6A9-6908-44F5-96BE-4E2260F951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482570"/>
            <a:ext cx="9905998" cy="1660124"/>
          </a:xfrm>
        </p:spPr>
        <p:txBody>
          <a:bodyPr>
            <a:normAutofit/>
          </a:bodyPr>
          <a:lstStyle/>
          <a:p>
            <a:pPr algn="ctr"/>
            <a:r>
              <a:rPr lang="ru-RU" sz="4000" dirty="0">
                <a:latin typeface="Comic Sans MS" panose="030F0702030302020204" pitchFamily="66" charset="0"/>
              </a:rPr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313236449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Контур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{41AD7E56-4B52-406A-BEDC-856F3819B4A7}TF6d5feb1e-e145-43f1-b745-cb4b54c5ee9733a8a5b4-7ba003f5bf80</Template>
  <TotalTime>240</TotalTime>
  <Words>169</Words>
  <Application>Microsoft Office PowerPoint</Application>
  <PresentationFormat>Широкоэкранный</PresentationFormat>
  <Paragraphs>21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1" baseType="lpstr">
      <vt:lpstr>Arial</vt:lpstr>
      <vt:lpstr>Comic Sans MS</vt:lpstr>
      <vt:lpstr>Tw Cen MT</vt:lpstr>
      <vt:lpstr>Контур</vt:lpstr>
      <vt:lpstr>Создание виртуальной учебной модели электродвигателя</vt:lpstr>
      <vt:lpstr>Цель проекта:</vt:lpstr>
      <vt:lpstr>Презентация PowerPoint</vt:lpstr>
      <vt:lpstr>Задачи  Проекта</vt:lpstr>
      <vt:lpstr>Вывод: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Создание учебной модели электродвигателя</dc:title>
  <dc:creator>Admin</dc:creator>
  <cp:lastModifiedBy>Admin</cp:lastModifiedBy>
  <cp:revision>18</cp:revision>
  <dcterms:created xsi:type="dcterms:W3CDTF">2025-12-07T13:34:12Z</dcterms:created>
  <dcterms:modified xsi:type="dcterms:W3CDTF">2025-12-07T20:07:14Z</dcterms:modified>
</cp:coreProperties>
</file>