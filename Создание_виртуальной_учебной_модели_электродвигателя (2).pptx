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60" r:id="rId4"/>
    <p:sldId id="258" r:id="rId5"/>
    <p:sldId id="266" r:id="rId6"/>
    <p:sldId id="265" r:id="rId7"/>
    <p:sldId id="264" r:id="rId8"/>
    <p:sldId id="267" r:id="rId9"/>
    <p:sldId id="261" r:id="rId10"/>
    <p:sldId id="262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D1C6682C-8FB3-4B05-9394-9F0900B034E5}">
          <p14:sldIdLst>
            <p14:sldId id="256"/>
            <p14:sldId id="257"/>
            <p14:sldId id="260"/>
            <p14:sldId id="258"/>
            <p14:sldId id="266"/>
            <p14:sldId id="265"/>
            <p14:sldId id="264"/>
            <p14:sldId id="267"/>
            <p14:sldId id="261"/>
            <p14:sldId id="262"/>
          </p14:sldIdLst>
        </p14:section>
        <p14:section name="Раздел без заголовка" id="{E8D0F60A-18A9-4E3F-9E5F-C42622CE077C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30303"/>
    <a:srgbClr val="000000"/>
    <a:srgbClr val="404040"/>
    <a:srgbClr val="08080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831" autoAdjust="0"/>
    <p:restoredTop sz="94660"/>
  </p:normalViewPr>
  <p:slideViewPr>
    <p:cSldViewPr snapToGrid="0">
      <p:cViewPr varScale="1">
        <p:scale>
          <a:sx n="84" d="100"/>
          <a:sy n="84" d="100"/>
        </p:scale>
        <p:origin x="542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3/4/2026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2">
                <a:lumMod val="40000"/>
                <a:lumOff val="60000"/>
              </a:schemeClr>
            </a:gs>
            <a:gs pos="22000">
              <a:schemeClr val="tx1">
                <a:lumMod val="50000"/>
              </a:schemeClr>
            </a:gs>
            <a:gs pos="8000">
              <a:schemeClr val="bg1">
                <a:lumMod val="65000"/>
                <a:lumOff val="35000"/>
              </a:schemeClr>
            </a:gs>
          </a:gsLst>
          <a:path path="rect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3/4/2026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 shadeToTitle="1">
        <a:gradFill flip="none" rotWithShape="1">
          <a:gsLst>
            <a:gs pos="9750">
              <a:srgbClr val="577D99"/>
            </a:gs>
            <a:gs pos="13000">
              <a:srgbClr val="6B8AA1"/>
            </a:gs>
            <a:gs pos="8000">
              <a:srgbClr val="436F91"/>
            </a:gs>
            <a:gs pos="4000">
              <a:schemeClr val="bg1">
                <a:lumMod val="50000"/>
                <a:lumOff val="50000"/>
              </a:schemeClr>
            </a:gs>
            <a:gs pos="16000">
              <a:schemeClr val="bg1">
                <a:lumMod val="50000"/>
                <a:lumOff val="50000"/>
              </a:schemeClr>
            </a:gs>
          </a:gsLst>
          <a:path path="shap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096A5A6F-23A7-4950-817A-47C5231A8A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97760" y="1193483"/>
            <a:ext cx="8270239" cy="1773237"/>
          </a:xfrm>
        </p:spPr>
        <p:txBody>
          <a:bodyPr anchor="ctr">
            <a:normAutofit/>
          </a:bodyPr>
          <a:lstStyle/>
          <a:p>
            <a:pPr algn="ctr"/>
            <a:r>
              <a:rPr lang="ru-RU" sz="4000" i="1" dirty="0">
                <a:solidFill>
                  <a:srgbClr val="030303"/>
                </a:solidFill>
                <a:latin typeface="Comic Sans MS" panose="030F0702030302020204" pitchFamily="66" charset="0"/>
              </a:rPr>
              <a:t>Создание виртуальной учебной модели электродвигателя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="" xmlns:a16="http://schemas.microsoft.com/office/drawing/2014/main" id="{040FE809-B3AD-4CA5-ADB4-17F6D17951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6742" y="4018832"/>
            <a:ext cx="2364419" cy="1202392"/>
          </a:xfrm>
        </p:spPr>
        <p:txBody>
          <a:bodyPr>
            <a:normAutofit/>
          </a:bodyPr>
          <a:lstStyle/>
          <a:p>
            <a:pPr>
              <a:lnSpc>
                <a:spcPct val="70000"/>
              </a:lnSpc>
              <a:spcBef>
                <a:spcPts val="400"/>
              </a:spcBef>
            </a:pPr>
            <a:r>
              <a:rPr lang="ru-RU" dirty="0">
                <a:solidFill>
                  <a:srgbClr val="030303"/>
                </a:solidFill>
                <a:latin typeface="Comic Sans MS" panose="030F0702030302020204" pitchFamily="66" charset="0"/>
              </a:rPr>
              <a:t>У</a:t>
            </a:r>
            <a:r>
              <a:rPr lang="ru-RU" sz="1400" dirty="0">
                <a:solidFill>
                  <a:srgbClr val="030303"/>
                </a:solidFill>
                <a:latin typeface="Comic Sans MS" panose="030F0702030302020204" pitchFamily="66" charset="0"/>
              </a:rPr>
              <a:t>частники проекта:</a:t>
            </a:r>
          </a:p>
          <a:p>
            <a:pPr>
              <a:lnSpc>
                <a:spcPct val="70000"/>
              </a:lnSpc>
              <a:spcBef>
                <a:spcPts val="400"/>
              </a:spcBef>
            </a:pPr>
            <a:r>
              <a:rPr lang="ru-RU" dirty="0">
                <a:solidFill>
                  <a:srgbClr val="030303"/>
                </a:solidFill>
                <a:latin typeface="Comic Sans MS" panose="030F0702030302020204" pitchFamily="66" charset="0"/>
              </a:rPr>
              <a:t>А</a:t>
            </a:r>
            <a:r>
              <a:rPr lang="ru-RU" sz="1400" dirty="0">
                <a:solidFill>
                  <a:srgbClr val="030303"/>
                </a:solidFill>
                <a:latin typeface="Comic Sans MS" panose="030F0702030302020204" pitchFamily="66" charset="0"/>
              </a:rPr>
              <a:t>хметов </a:t>
            </a:r>
            <a:r>
              <a:rPr lang="ru-RU" dirty="0">
                <a:solidFill>
                  <a:srgbClr val="030303"/>
                </a:solidFill>
                <a:latin typeface="Comic Sans MS" panose="030F0702030302020204" pitchFamily="66" charset="0"/>
              </a:rPr>
              <a:t>Р</a:t>
            </a:r>
            <a:r>
              <a:rPr lang="ru-RU" sz="1400" dirty="0">
                <a:solidFill>
                  <a:srgbClr val="030303"/>
                </a:solidFill>
                <a:latin typeface="Comic Sans MS" panose="030F0702030302020204" pitchFamily="66" charset="0"/>
              </a:rPr>
              <a:t>оберт</a:t>
            </a:r>
          </a:p>
          <a:p>
            <a:pPr>
              <a:lnSpc>
                <a:spcPct val="70000"/>
              </a:lnSpc>
              <a:spcBef>
                <a:spcPts val="400"/>
              </a:spcBef>
            </a:pPr>
            <a:r>
              <a:rPr lang="ru-RU" sz="2200" dirty="0">
                <a:solidFill>
                  <a:srgbClr val="030303"/>
                </a:solidFill>
                <a:latin typeface="Comic Sans MS" panose="030F0702030302020204" pitchFamily="66" charset="0"/>
              </a:rPr>
              <a:t>З</a:t>
            </a:r>
            <a:r>
              <a:rPr lang="ru-RU" sz="1400" dirty="0">
                <a:solidFill>
                  <a:srgbClr val="030303"/>
                </a:solidFill>
                <a:latin typeface="Comic Sans MS" panose="030F0702030302020204" pitchFamily="66" charset="0"/>
              </a:rPr>
              <a:t>инчук </a:t>
            </a:r>
            <a:r>
              <a:rPr lang="ru-RU" dirty="0">
                <a:solidFill>
                  <a:srgbClr val="030303"/>
                </a:solidFill>
                <a:latin typeface="Comic Sans MS" panose="030F0702030302020204" pitchFamily="66" charset="0"/>
              </a:rPr>
              <a:t>В</a:t>
            </a:r>
            <a:r>
              <a:rPr lang="ru-RU" sz="1400" dirty="0">
                <a:solidFill>
                  <a:srgbClr val="030303"/>
                </a:solidFill>
                <a:latin typeface="Comic Sans MS" panose="030F0702030302020204" pitchFamily="66" charset="0"/>
              </a:rPr>
              <a:t>ладимир</a:t>
            </a:r>
          </a:p>
          <a:p>
            <a:pPr>
              <a:lnSpc>
                <a:spcPct val="70000"/>
              </a:lnSpc>
              <a:spcBef>
                <a:spcPts val="400"/>
              </a:spcBef>
            </a:pPr>
            <a:r>
              <a:rPr lang="ru-RU" sz="2200" dirty="0" err="1">
                <a:solidFill>
                  <a:srgbClr val="030303"/>
                </a:solidFill>
                <a:latin typeface="Comic Sans MS" panose="030F0702030302020204" pitchFamily="66" charset="0"/>
              </a:rPr>
              <a:t>И</a:t>
            </a:r>
            <a:r>
              <a:rPr lang="ru-RU" sz="1400" dirty="0" err="1">
                <a:solidFill>
                  <a:srgbClr val="030303"/>
                </a:solidFill>
                <a:latin typeface="Comic Sans MS" panose="030F0702030302020204" pitchFamily="66" charset="0"/>
              </a:rPr>
              <a:t>бятов</a:t>
            </a:r>
            <a:r>
              <a:rPr lang="ru-RU" sz="1400" dirty="0">
                <a:solidFill>
                  <a:srgbClr val="030303"/>
                </a:solidFill>
                <a:latin typeface="Comic Sans MS" panose="030F0702030302020204" pitchFamily="66" charset="0"/>
              </a:rPr>
              <a:t> </a:t>
            </a:r>
            <a:r>
              <a:rPr lang="ru-RU" sz="2400" dirty="0" smtClean="0">
                <a:solidFill>
                  <a:srgbClr val="030303"/>
                </a:solidFill>
                <a:latin typeface="Comic Sans MS" panose="030F0702030302020204" pitchFamily="66" charset="0"/>
              </a:rPr>
              <a:t>Т</a:t>
            </a:r>
            <a:r>
              <a:rPr lang="ru-RU" sz="1400" dirty="0" smtClean="0">
                <a:solidFill>
                  <a:srgbClr val="030303"/>
                </a:solidFill>
                <a:latin typeface="Comic Sans MS" panose="030F0702030302020204" pitchFamily="66" charset="0"/>
              </a:rPr>
              <a:t>имур</a:t>
            </a:r>
            <a:endParaRPr lang="ru-RU" dirty="0">
              <a:solidFill>
                <a:srgbClr val="030303"/>
              </a:solidFill>
              <a:latin typeface="Comic Sans MS" panose="030F0702030302020204" pitchFamily="66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146742" y="5362999"/>
            <a:ext cx="273202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cap="all" dirty="0" smtClean="0">
                <a:solidFill>
                  <a:srgbClr val="030303"/>
                </a:solidFill>
                <a:latin typeface="Comic Sans MS" panose="030F0702030302020204" pitchFamily="66" charset="0"/>
              </a:rPr>
              <a:t>Р</a:t>
            </a:r>
            <a:r>
              <a:rPr lang="ru-RU" sz="1400" cap="all" dirty="0" smtClean="0">
                <a:solidFill>
                  <a:srgbClr val="030303"/>
                </a:solidFill>
                <a:latin typeface="Comic Sans MS" panose="030F0702030302020204" pitchFamily="66" charset="0"/>
              </a:rPr>
              <a:t>уководители проекта</a:t>
            </a:r>
            <a:r>
              <a:rPr lang="en-US" sz="1400" cap="all" dirty="0" smtClean="0">
                <a:solidFill>
                  <a:srgbClr val="030303"/>
                </a:solidFill>
                <a:latin typeface="Comic Sans MS" panose="030F0702030302020204" pitchFamily="66" charset="0"/>
              </a:rPr>
              <a:t>:</a:t>
            </a:r>
            <a:r>
              <a:rPr lang="en-US" dirty="0" smtClean="0">
                <a:solidFill>
                  <a:srgbClr val="030303"/>
                </a:solidFill>
                <a:latin typeface="Comic Sans MS" panose="030F0702030302020204" pitchFamily="66" charset="0"/>
              </a:rPr>
              <a:t/>
            </a:r>
            <a:br>
              <a:rPr lang="en-US" dirty="0" smtClean="0">
                <a:solidFill>
                  <a:srgbClr val="030303"/>
                </a:solidFill>
                <a:latin typeface="Comic Sans MS" panose="030F0702030302020204" pitchFamily="66" charset="0"/>
              </a:rPr>
            </a:br>
            <a:r>
              <a:rPr lang="ru-RU" sz="2000" cap="all" dirty="0" smtClean="0">
                <a:solidFill>
                  <a:srgbClr val="030303"/>
                </a:solidFill>
                <a:latin typeface="Comic Sans MS" panose="030F0702030302020204" pitchFamily="66" charset="0"/>
              </a:rPr>
              <a:t>К</a:t>
            </a:r>
            <a:r>
              <a:rPr lang="ru-RU" sz="1400" cap="all" dirty="0" smtClean="0">
                <a:solidFill>
                  <a:srgbClr val="030303"/>
                </a:solidFill>
                <a:latin typeface="Comic Sans MS" panose="030F0702030302020204" pitchFamily="66" charset="0"/>
              </a:rPr>
              <a:t>локов </a:t>
            </a:r>
            <a:r>
              <a:rPr lang="ru-RU" sz="2000" cap="all" dirty="0" smtClean="0">
                <a:solidFill>
                  <a:srgbClr val="030303"/>
                </a:solidFill>
                <a:latin typeface="Comic Sans MS" panose="030F0702030302020204" pitchFamily="66" charset="0"/>
              </a:rPr>
              <a:t>А</a:t>
            </a:r>
            <a:r>
              <a:rPr lang="ru-RU" sz="1400" cap="all" dirty="0" smtClean="0">
                <a:solidFill>
                  <a:srgbClr val="030303"/>
                </a:solidFill>
                <a:latin typeface="Comic Sans MS" panose="030F0702030302020204" pitchFamily="66" charset="0"/>
              </a:rPr>
              <a:t>. </a:t>
            </a:r>
            <a:r>
              <a:rPr lang="ru-RU" sz="2000" cap="all" dirty="0" smtClean="0">
                <a:solidFill>
                  <a:srgbClr val="030303"/>
                </a:solidFill>
                <a:latin typeface="Comic Sans MS" panose="030F0702030302020204" pitchFamily="66" charset="0"/>
              </a:rPr>
              <a:t>А</a:t>
            </a:r>
            <a:r>
              <a:rPr lang="ru-RU" sz="1400" cap="all" dirty="0" smtClean="0">
                <a:solidFill>
                  <a:srgbClr val="030303"/>
                </a:solidFill>
                <a:latin typeface="Comic Sans MS" panose="030F0702030302020204" pitchFamily="66" charset="0"/>
              </a:rPr>
              <a:t>.</a:t>
            </a:r>
          </a:p>
          <a:p>
            <a:r>
              <a:rPr lang="ru-RU" sz="2000" cap="all" dirty="0" smtClean="0">
                <a:solidFill>
                  <a:srgbClr val="030303"/>
                </a:solidFill>
                <a:latin typeface="Comic Sans MS" panose="030F0702030302020204" pitchFamily="66" charset="0"/>
              </a:rPr>
              <a:t>С</a:t>
            </a:r>
            <a:r>
              <a:rPr lang="ru-RU" sz="1400" cap="all" dirty="0" smtClean="0">
                <a:solidFill>
                  <a:srgbClr val="030303"/>
                </a:solidFill>
                <a:latin typeface="Comic Sans MS" panose="030F0702030302020204" pitchFamily="66" charset="0"/>
              </a:rPr>
              <a:t>ычёв </a:t>
            </a:r>
            <a:r>
              <a:rPr lang="ru-RU" sz="2000" cap="all" dirty="0" smtClean="0">
                <a:solidFill>
                  <a:srgbClr val="030303"/>
                </a:solidFill>
                <a:latin typeface="Comic Sans MS" panose="030F0702030302020204" pitchFamily="66" charset="0"/>
              </a:rPr>
              <a:t>А</a:t>
            </a:r>
            <a:r>
              <a:rPr lang="ru-RU" sz="1400" cap="all" dirty="0" smtClean="0">
                <a:solidFill>
                  <a:srgbClr val="030303"/>
                </a:solidFill>
                <a:latin typeface="Comic Sans MS" panose="030F0702030302020204" pitchFamily="66" charset="0"/>
              </a:rPr>
              <a:t>. </a:t>
            </a:r>
            <a:r>
              <a:rPr lang="ru-RU" sz="2000" cap="all" dirty="0" smtClean="0">
                <a:solidFill>
                  <a:srgbClr val="030303"/>
                </a:solidFill>
                <a:latin typeface="Comic Sans MS" panose="030F0702030302020204" pitchFamily="66" charset="0"/>
              </a:rPr>
              <a:t>М</a:t>
            </a:r>
            <a:r>
              <a:rPr lang="ru-RU" sz="1400" cap="all" dirty="0" smtClean="0">
                <a:solidFill>
                  <a:srgbClr val="030303"/>
                </a:solidFill>
                <a:latin typeface="Comic Sans MS" panose="030F0702030302020204" pitchFamily="66" charset="0"/>
              </a:rPr>
              <a:t>.</a:t>
            </a:r>
            <a:endParaRPr lang="en-US" sz="1400" cap="all" dirty="0" smtClean="0">
              <a:solidFill>
                <a:srgbClr val="030303"/>
              </a:solidFill>
              <a:latin typeface="Comic Sans MS" panose="030F0702030302020204" pitchFamily="66" charset="0"/>
            </a:endParaRPr>
          </a:p>
          <a:p>
            <a:r>
              <a:rPr lang="ru-RU" sz="2000" cap="all" dirty="0" err="1" smtClean="0">
                <a:solidFill>
                  <a:srgbClr val="030303"/>
                </a:solidFill>
                <a:latin typeface="Comic Sans MS" panose="030F0702030302020204" pitchFamily="66" charset="0"/>
              </a:rPr>
              <a:t>Ш</a:t>
            </a:r>
            <a:r>
              <a:rPr lang="ru-RU" sz="1400" cap="all" dirty="0" err="1" smtClean="0">
                <a:solidFill>
                  <a:srgbClr val="030303"/>
                </a:solidFill>
                <a:latin typeface="Comic Sans MS" panose="030F0702030302020204" pitchFamily="66" charset="0"/>
              </a:rPr>
              <a:t>еляго</a:t>
            </a:r>
            <a:r>
              <a:rPr lang="ru-RU" sz="1400" cap="all" dirty="0" smtClean="0">
                <a:solidFill>
                  <a:srgbClr val="030303"/>
                </a:solidFill>
                <a:latin typeface="Comic Sans MS" panose="030F0702030302020204" pitchFamily="66" charset="0"/>
              </a:rPr>
              <a:t> </a:t>
            </a:r>
            <a:r>
              <a:rPr lang="ru-RU" sz="2000" cap="all" dirty="0" smtClean="0">
                <a:solidFill>
                  <a:srgbClr val="030303"/>
                </a:solidFill>
                <a:latin typeface="Comic Sans MS" panose="030F0702030302020204" pitchFamily="66" charset="0"/>
              </a:rPr>
              <a:t>н</a:t>
            </a:r>
            <a:r>
              <a:rPr lang="ru-RU" sz="1400" cap="all" dirty="0" smtClean="0">
                <a:solidFill>
                  <a:srgbClr val="030303"/>
                </a:solidFill>
                <a:latin typeface="Comic Sans MS" panose="030F0702030302020204" pitchFamily="66" charset="0"/>
              </a:rPr>
              <a:t>. </a:t>
            </a:r>
            <a:r>
              <a:rPr lang="ru-RU" sz="2000" cap="all" dirty="0" smtClean="0">
                <a:solidFill>
                  <a:srgbClr val="030303"/>
                </a:solidFill>
                <a:latin typeface="Comic Sans MS" panose="030F0702030302020204" pitchFamily="66" charset="0"/>
              </a:rPr>
              <a:t>Д</a:t>
            </a:r>
            <a:r>
              <a:rPr lang="ru-RU" sz="1400" cap="all" dirty="0" smtClean="0">
                <a:solidFill>
                  <a:srgbClr val="030303"/>
                </a:solidFill>
                <a:latin typeface="Comic Sans MS" panose="030F0702030302020204" pitchFamily="66" charset="0"/>
              </a:rPr>
              <a:t>.</a:t>
            </a:r>
            <a:endParaRPr lang="ru-RU" sz="1400" cap="all" dirty="0">
              <a:solidFill>
                <a:srgbClr val="030303"/>
              </a:solidFill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18988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B07E16CC-F503-4B66-9D99-A4EBC5ADE9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24940" y="618518"/>
            <a:ext cx="5770485" cy="1006095"/>
          </a:xfrm>
          <a:noFill/>
        </p:spPr>
        <p:txBody>
          <a:bodyPr>
            <a:normAutofit/>
          </a:bodyPr>
          <a:lstStyle/>
          <a:p>
            <a:pPr algn="ctr"/>
            <a:r>
              <a:rPr lang="ru-RU" sz="4400" dirty="0">
                <a:solidFill>
                  <a:srgbClr val="030303"/>
                </a:solidFill>
                <a:latin typeface="Comic Sans MS" panose="030F0702030302020204" pitchFamily="66" charset="0"/>
              </a:rPr>
              <a:t>Ц</a:t>
            </a:r>
            <a:r>
              <a:rPr lang="ru-RU" dirty="0">
                <a:solidFill>
                  <a:srgbClr val="030303"/>
                </a:solidFill>
                <a:latin typeface="Comic Sans MS" panose="030F0702030302020204" pitchFamily="66" charset="0"/>
              </a:rPr>
              <a:t>ель</a:t>
            </a:r>
            <a:r>
              <a:rPr lang="ru-RU" sz="3200" dirty="0">
                <a:solidFill>
                  <a:srgbClr val="030303"/>
                </a:solidFill>
                <a:latin typeface="Comic Sans MS" panose="030F0702030302020204" pitchFamily="66" charset="0"/>
              </a:rPr>
              <a:t> </a:t>
            </a:r>
            <a:r>
              <a:rPr lang="ru-RU" dirty="0">
                <a:solidFill>
                  <a:srgbClr val="030303"/>
                </a:solidFill>
                <a:latin typeface="Comic Sans MS" panose="030F0702030302020204" pitchFamily="66" charset="0"/>
              </a:rPr>
              <a:t>проекта: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="" xmlns:a16="http://schemas.microsoft.com/office/drawing/2014/main" id="{19EC360F-65AB-4274-ABD5-19FD1D26BE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3200" dirty="0">
                <a:solidFill>
                  <a:srgbClr val="030303"/>
                </a:solidFill>
                <a:latin typeface="Comic Sans MS" panose="030F0702030302020204" pitchFamily="66" charset="0"/>
              </a:rPr>
              <a:t>Создание виртуальной учебной модели электродвигателя для использования в учебных целях</a:t>
            </a:r>
          </a:p>
        </p:txBody>
      </p:sp>
    </p:spTree>
    <p:extLst>
      <p:ext uri="{BB962C8B-B14F-4D97-AF65-F5344CB8AC3E}">
        <p14:creationId xmlns:p14="http://schemas.microsoft.com/office/powerpoint/2010/main" val="17626165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="" xmlns:a16="http://schemas.microsoft.com/office/drawing/2014/main" id="{B5F611D9-975C-424C-B9F6-15643D16A6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1965" y="2057401"/>
            <a:ext cx="9822293" cy="3428999"/>
          </a:xfrm>
        </p:spPr>
        <p:txBody>
          <a:bodyPr>
            <a:noAutofit/>
          </a:bodyPr>
          <a:lstStyle/>
          <a:p>
            <a:r>
              <a:rPr lang="ru-RU" sz="2800" dirty="0">
                <a:solidFill>
                  <a:srgbClr val="030303"/>
                </a:solidFill>
                <a:latin typeface="Comic Sans MS" panose="030F0702030302020204" pitchFamily="66" charset="0"/>
              </a:rPr>
              <a:t> учебные интерактивные модели повышают эффективность осознания материала</a:t>
            </a:r>
          </a:p>
          <a:p>
            <a:r>
              <a:rPr lang="ru-RU" sz="2800" dirty="0">
                <a:solidFill>
                  <a:srgbClr val="030303"/>
                </a:solidFill>
                <a:latin typeface="Comic Sans MS" panose="030F0702030302020204" pitchFamily="66" charset="0"/>
              </a:rPr>
              <a:t> Отсутствие физических моделей в школах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95884" y="384048"/>
            <a:ext cx="59344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solidFill>
                  <a:srgbClr val="030303"/>
                </a:solidFill>
                <a:latin typeface="Comic Sans MS" panose="030F0702030302020204" pitchFamily="66" charset="0"/>
              </a:rPr>
              <a:t>Актуальность проекта</a:t>
            </a:r>
            <a:r>
              <a:rPr lang="en-US" sz="3600" dirty="0">
                <a:solidFill>
                  <a:srgbClr val="030303"/>
                </a:solidFill>
                <a:latin typeface="Comic Sans MS" panose="030F0702030302020204" pitchFamily="66" charset="0"/>
              </a:rPr>
              <a:t>:</a:t>
            </a:r>
            <a:endParaRPr lang="ru-RU" sz="3600" dirty="0">
              <a:solidFill>
                <a:srgbClr val="030303"/>
              </a:solidFill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30639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3DAAC47C-B355-428A-9730-3DCA6782D9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8004" y="618518"/>
            <a:ext cx="5513033" cy="1478570"/>
          </a:xfrm>
        </p:spPr>
        <p:txBody>
          <a:bodyPr>
            <a:normAutofit/>
          </a:bodyPr>
          <a:lstStyle/>
          <a:p>
            <a:pPr algn="ctr"/>
            <a:r>
              <a:rPr lang="ru-RU" sz="4400" dirty="0">
                <a:solidFill>
                  <a:srgbClr val="030303"/>
                </a:solidFill>
                <a:latin typeface="Comic Sans MS" panose="030F0702030302020204" pitchFamily="66" charset="0"/>
              </a:rPr>
              <a:t>Задачи  П</a:t>
            </a:r>
            <a:r>
              <a:rPr lang="ru-RU" dirty="0">
                <a:solidFill>
                  <a:srgbClr val="030303"/>
                </a:solidFill>
                <a:latin typeface="Comic Sans MS" panose="030F0702030302020204" pitchFamily="66" charset="0"/>
              </a:rPr>
              <a:t>роекта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="" xmlns:a16="http://schemas.microsoft.com/office/drawing/2014/main" id="{830D18D6-6630-433D-AFF3-CB43ED8E6C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49486"/>
            <a:ext cx="9905999" cy="4202113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ru-RU" sz="2800" b="0" i="0" dirty="0">
                <a:solidFill>
                  <a:srgbClr val="030303"/>
                </a:solidFill>
                <a:effectLst/>
                <a:latin typeface="Comic Sans MS" panose="030F0702030302020204" pitchFamily="66" charset="0"/>
              </a:rPr>
              <a:t>1. Определить целевую аудиторию</a:t>
            </a:r>
          </a:p>
          <a:p>
            <a:pPr marL="0" indent="0" algn="l">
              <a:buNone/>
            </a:pPr>
            <a:r>
              <a:rPr lang="ru-RU" sz="2800" b="0" i="0" dirty="0">
                <a:solidFill>
                  <a:srgbClr val="030303"/>
                </a:solidFill>
                <a:effectLst/>
                <a:latin typeface="Comic Sans MS" panose="030F0702030302020204" pitchFamily="66" charset="0"/>
              </a:rPr>
              <a:t>2.​​​​​​​ Определить уровень сложности модели</a:t>
            </a:r>
          </a:p>
          <a:p>
            <a:pPr marL="0" indent="0" algn="l">
              <a:buNone/>
            </a:pPr>
            <a:r>
              <a:rPr lang="ru-RU" sz="2800" b="0" i="0" dirty="0">
                <a:solidFill>
                  <a:srgbClr val="030303"/>
                </a:solidFill>
                <a:effectLst/>
                <a:latin typeface="Comic Sans MS" panose="030F0702030302020204" pitchFamily="66" charset="0"/>
              </a:rPr>
              <a:t>3. Обеспечить взаимодействия с моделью</a:t>
            </a:r>
          </a:p>
          <a:p>
            <a:pPr marL="0" indent="0" algn="l">
              <a:buNone/>
            </a:pPr>
            <a:r>
              <a:rPr lang="ru-RU" sz="2800" b="0" i="0" dirty="0">
                <a:solidFill>
                  <a:srgbClr val="030303"/>
                </a:solidFill>
                <a:effectLst/>
                <a:latin typeface="Comic Sans MS" panose="030F0702030302020204" pitchFamily="66" charset="0"/>
              </a:rPr>
              <a:t>​​​​​​​4. Создать модель</a:t>
            </a:r>
          </a:p>
          <a:p>
            <a:pPr marL="0" indent="0" algn="l">
              <a:buNone/>
            </a:pPr>
            <a:r>
              <a:rPr lang="ru-RU" sz="2800" dirty="0">
                <a:solidFill>
                  <a:srgbClr val="030303"/>
                </a:solidFill>
                <a:latin typeface="Comic Sans MS" panose="030F0702030302020204" pitchFamily="66" charset="0"/>
              </a:rPr>
              <a:t>5. Разработать и реализовать итоговый программный продукт</a:t>
            </a:r>
            <a:endParaRPr lang="ru-RU" sz="2800" b="0" i="0" dirty="0">
              <a:solidFill>
                <a:srgbClr val="030303"/>
              </a:solidFill>
              <a:effectLst/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50352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3DAAC47C-B355-428A-9730-3DCA6782D9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9707" y="325972"/>
            <a:ext cx="7709407" cy="1923514"/>
          </a:xfrm>
        </p:spPr>
        <p:txBody>
          <a:bodyPr>
            <a:normAutofit/>
          </a:bodyPr>
          <a:lstStyle/>
          <a:p>
            <a:pPr algn="ctr"/>
            <a:r>
              <a:rPr lang="ru-RU" sz="4400" dirty="0">
                <a:solidFill>
                  <a:srgbClr val="030303"/>
                </a:solidFill>
                <a:latin typeface="Comic Sans MS" panose="030F0702030302020204" pitchFamily="66" charset="0"/>
              </a:rPr>
              <a:t>Этапы создания  П</a:t>
            </a:r>
            <a:r>
              <a:rPr lang="ru-RU" dirty="0">
                <a:solidFill>
                  <a:srgbClr val="030303"/>
                </a:solidFill>
                <a:latin typeface="Comic Sans MS" panose="030F0702030302020204" pitchFamily="66" charset="0"/>
              </a:rPr>
              <a:t>роекта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="" xmlns:a16="http://schemas.microsoft.com/office/drawing/2014/main" id="{830D18D6-6630-433D-AFF3-CB43ED8E6C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7989" y="2651823"/>
            <a:ext cx="8212900" cy="325520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800" dirty="0">
                <a:solidFill>
                  <a:srgbClr val="030303"/>
                </a:solidFill>
                <a:latin typeface="Comic Sans MS" panose="030F0702030302020204" pitchFamily="66" charset="0"/>
              </a:rPr>
              <a:t>1. Создание концепта</a:t>
            </a:r>
          </a:p>
          <a:p>
            <a:pPr marL="0" indent="0">
              <a:buNone/>
            </a:pPr>
            <a:r>
              <a:rPr lang="ru-RU" sz="2800" dirty="0">
                <a:solidFill>
                  <a:srgbClr val="030303"/>
                </a:solidFill>
                <a:latin typeface="Comic Sans MS" panose="030F0702030302020204" pitchFamily="66" charset="0"/>
              </a:rPr>
              <a:t>2.​​​​​​​ Создание 3д модели</a:t>
            </a:r>
          </a:p>
          <a:p>
            <a:pPr marL="0" indent="0">
              <a:buNone/>
            </a:pPr>
            <a:r>
              <a:rPr lang="ru-RU" sz="2800" dirty="0">
                <a:solidFill>
                  <a:srgbClr val="030303"/>
                </a:solidFill>
                <a:latin typeface="Comic Sans MS" panose="030F0702030302020204" pitchFamily="66" charset="0"/>
              </a:rPr>
              <a:t>3. Написание программы</a:t>
            </a:r>
          </a:p>
          <a:p>
            <a:pPr marL="0" indent="0">
              <a:buNone/>
            </a:pPr>
            <a:r>
              <a:rPr lang="ru-RU" sz="2800" dirty="0">
                <a:latin typeface="Comic Sans MS" panose="030F0702030302020204" pitchFamily="66" charset="0"/>
              </a:rPr>
              <a:t>​​​​</a:t>
            </a:r>
          </a:p>
        </p:txBody>
      </p:sp>
    </p:spTree>
    <p:extLst>
      <p:ext uri="{BB962C8B-B14F-4D97-AF65-F5344CB8AC3E}">
        <p14:creationId xmlns:p14="http://schemas.microsoft.com/office/powerpoint/2010/main" val="32318813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3DAAC47C-B355-428A-9730-3DCA6782D9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62813" y="335054"/>
            <a:ext cx="6263196" cy="1478570"/>
          </a:xfrm>
        </p:spPr>
        <p:txBody>
          <a:bodyPr>
            <a:normAutofit/>
          </a:bodyPr>
          <a:lstStyle/>
          <a:p>
            <a:pPr algn="ctr"/>
            <a:r>
              <a:rPr lang="ru-RU" sz="4400" dirty="0">
                <a:solidFill>
                  <a:srgbClr val="030303"/>
                </a:solidFill>
                <a:latin typeface="Comic Sans MS" panose="030F0702030302020204" pitchFamily="66" charset="0"/>
              </a:rPr>
              <a:t>Создание модели</a:t>
            </a:r>
            <a:endParaRPr lang="ru-RU" dirty="0">
              <a:solidFill>
                <a:srgbClr val="030303"/>
              </a:solidFill>
              <a:latin typeface="Comic Sans MS" panose="030F0702030302020204" pitchFamily="66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="" xmlns:a16="http://schemas.microsoft.com/office/drawing/2014/main" id="{830D18D6-6630-433D-AFF3-CB43ED8E6C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3397" y="1813624"/>
            <a:ext cx="5954332" cy="4202113"/>
          </a:xfrm>
        </p:spPr>
        <p:txBody>
          <a:bodyPr>
            <a:normAutofit/>
          </a:bodyPr>
          <a:lstStyle/>
          <a:p>
            <a:pPr marL="514350" indent="-514350" algn="l">
              <a:buAutoNum type="arabicPeriod"/>
            </a:pPr>
            <a:r>
              <a:rPr lang="ru-RU" sz="2800" b="0" i="0" dirty="0">
                <a:solidFill>
                  <a:srgbClr val="030303"/>
                </a:solidFill>
                <a:effectLst/>
                <a:latin typeface="Comic Sans MS" panose="030F0702030302020204" pitchFamily="66" charset="0"/>
              </a:rPr>
              <a:t>Изучение строения электродвигателя</a:t>
            </a:r>
            <a:endParaRPr lang="ru-RU" dirty="0">
              <a:solidFill>
                <a:srgbClr val="030303"/>
              </a:solidFill>
              <a:latin typeface="Comic Sans MS" panose="030F0702030302020204" pitchFamily="66" charset="0"/>
            </a:endParaRPr>
          </a:p>
          <a:p>
            <a:pPr marL="514350" indent="-514350" algn="l">
              <a:buAutoNum type="arabicPeriod"/>
            </a:pPr>
            <a:r>
              <a:rPr lang="ru-RU" sz="2800" dirty="0">
                <a:solidFill>
                  <a:srgbClr val="030303"/>
                </a:solidFill>
                <a:latin typeface="Comic Sans MS" panose="030F0702030302020204" pitchFamily="66" charset="0"/>
              </a:rPr>
              <a:t>Создание отдельных моделей под каждую часть электродвигателя</a:t>
            </a:r>
            <a:endParaRPr lang="ru-RU" dirty="0">
              <a:solidFill>
                <a:srgbClr val="030303"/>
              </a:solidFill>
              <a:latin typeface="Comic Sans MS" panose="030F0702030302020204" pitchFamily="66" charset="0"/>
            </a:endParaRPr>
          </a:p>
          <a:p>
            <a:pPr marL="514350" indent="-514350" algn="l">
              <a:buAutoNum type="arabicPeriod"/>
            </a:pPr>
            <a:r>
              <a:rPr lang="ru-RU" sz="2800" dirty="0">
                <a:solidFill>
                  <a:srgbClr val="030303"/>
                </a:solidFill>
                <a:latin typeface="Comic Sans MS" panose="030F0702030302020204" pitchFamily="66" charset="0"/>
              </a:rPr>
              <a:t>Соединение всех моделей в одну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7729" y="1813624"/>
            <a:ext cx="4398263" cy="4255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07961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3DAAC47C-B355-428A-9730-3DCA6782D9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2386" y="316766"/>
            <a:ext cx="7644050" cy="1478570"/>
          </a:xfrm>
        </p:spPr>
        <p:txBody>
          <a:bodyPr>
            <a:normAutofit/>
          </a:bodyPr>
          <a:lstStyle/>
          <a:p>
            <a:pPr algn="ctr"/>
            <a:r>
              <a:rPr lang="ru-RU" sz="4400" dirty="0">
                <a:solidFill>
                  <a:srgbClr val="030303"/>
                </a:solidFill>
                <a:latin typeface="Comic Sans MS" panose="030F0702030302020204" pitchFamily="66" charset="0"/>
              </a:rPr>
              <a:t>Создание Программы</a:t>
            </a:r>
            <a:endParaRPr lang="ru-RU" dirty="0">
              <a:solidFill>
                <a:srgbClr val="030303"/>
              </a:solidFill>
              <a:latin typeface="Comic Sans MS" panose="030F0702030302020204" pitchFamily="66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="" xmlns:a16="http://schemas.microsoft.com/office/drawing/2014/main" id="{830D18D6-6630-433D-AFF3-CB43ED8E6C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1795336"/>
            <a:ext cx="5049075" cy="4656263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ru-RU" sz="2800" b="0" i="0" dirty="0">
                <a:solidFill>
                  <a:srgbClr val="030303"/>
                </a:solidFill>
                <a:effectLst/>
                <a:latin typeface="Comic Sans MS" panose="030F0702030302020204" pitchFamily="66" charset="0"/>
              </a:rPr>
              <a:t>1. </a:t>
            </a:r>
            <a:r>
              <a:rPr lang="ru-RU" sz="2800" dirty="0">
                <a:solidFill>
                  <a:srgbClr val="030303"/>
                </a:solidFill>
                <a:latin typeface="Comic Sans MS" panose="030F0702030302020204" pitchFamily="66" charset="0"/>
              </a:rPr>
              <a:t>Создание дизайна программы</a:t>
            </a:r>
            <a:endParaRPr lang="ru-RU" sz="2800" b="0" i="0" dirty="0">
              <a:solidFill>
                <a:srgbClr val="030303"/>
              </a:solidFill>
              <a:effectLst/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ru-RU" sz="2800" b="0" i="0" dirty="0">
                <a:solidFill>
                  <a:srgbClr val="030303"/>
                </a:solidFill>
                <a:effectLst/>
                <a:latin typeface="Comic Sans MS" panose="030F0702030302020204" pitchFamily="66" charset="0"/>
              </a:rPr>
              <a:t>2.​​​​​​​ </a:t>
            </a:r>
            <a:r>
              <a:rPr lang="ru-RU" sz="2800" dirty="0">
                <a:solidFill>
                  <a:srgbClr val="030303"/>
                </a:solidFill>
                <a:latin typeface="Comic Sans MS" panose="030F0702030302020204" pitchFamily="66" charset="0"/>
              </a:rPr>
              <a:t>Нахождение необходимых библиотек</a:t>
            </a:r>
          </a:p>
          <a:p>
            <a:pPr marL="0" indent="0" algn="l">
              <a:buNone/>
            </a:pPr>
            <a:r>
              <a:rPr lang="ru-RU" sz="2800" b="0" i="0" dirty="0">
                <a:solidFill>
                  <a:srgbClr val="030303"/>
                </a:solidFill>
                <a:effectLst/>
                <a:latin typeface="Comic Sans MS" panose="030F0702030302020204" pitchFamily="66" charset="0"/>
              </a:rPr>
              <a:t>3. Написание интерфейса программы (</a:t>
            </a:r>
            <a:r>
              <a:rPr lang="en-US" sz="2800" b="0" i="0" dirty="0">
                <a:solidFill>
                  <a:srgbClr val="030303"/>
                </a:solidFill>
                <a:effectLst/>
                <a:latin typeface="Comic Sans MS" panose="030F0702030302020204" pitchFamily="66" charset="0"/>
              </a:rPr>
              <a:t>UI</a:t>
            </a:r>
            <a:r>
              <a:rPr lang="ru-RU" sz="2800" b="0" i="0" dirty="0">
                <a:solidFill>
                  <a:srgbClr val="030303"/>
                </a:solidFill>
                <a:effectLst/>
                <a:latin typeface="Comic Sans MS" panose="030F0702030302020204" pitchFamily="66" charset="0"/>
              </a:rPr>
              <a:t>)</a:t>
            </a:r>
          </a:p>
          <a:p>
            <a:pPr marL="0" indent="0" algn="l">
              <a:buNone/>
            </a:pPr>
            <a:r>
              <a:rPr lang="ru-RU" sz="2800" b="0" i="0" dirty="0">
                <a:solidFill>
                  <a:srgbClr val="030303"/>
                </a:solidFill>
                <a:effectLst/>
                <a:latin typeface="Comic Sans MS" panose="030F0702030302020204" pitchFamily="66" charset="0"/>
              </a:rPr>
              <a:t>​​​​​​​4. Написание основного кода</a:t>
            </a:r>
          </a:p>
          <a:p>
            <a:pPr marL="0" indent="0" algn="l">
              <a:buNone/>
            </a:pPr>
            <a:r>
              <a:rPr lang="ru-RU" sz="2800" dirty="0">
                <a:solidFill>
                  <a:srgbClr val="030303"/>
                </a:solidFill>
                <a:latin typeface="Comic Sans MS" panose="030F0702030302020204" pitchFamily="66" charset="0"/>
              </a:rPr>
              <a:t>5.</a:t>
            </a:r>
            <a:r>
              <a:rPr lang="ru-RU" sz="2800" b="0" i="0" dirty="0">
                <a:solidFill>
                  <a:srgbClr val="030303"/>
                </a:solidFill>
                <a:effectLst/>
                <a:latin typeface="Comic Sans MS" panose="030F0702030302020204" pitchFamily="66" charset="0"/>
              </a:rPr>
              <a:t> Подключение 3д модели к программе</a:t>
            </a:r>
          </a:p>
          <a:p>
            <a:pPr marL="0" indent="0" algn="l">
              <a:buNone/>
            </a:pPr>
            <a:r>
              <a:rPr lang="ru-RU" sz="2800" dirty="0">
                <a:solidFill>
                  <a:srgbClr val="030303"/>
                </a:solidFill>
                <a:latin typeface="Comic Sans MS" panose="030F0702030302020204" pitchFamily="66" charset="0"/>
              </a:rPr>
              <a:t>6. Разработка задач для проверки усвоения знаний</a:t>
            </a:r>
            <a:endParaRPr lang="ru-RU" sz="2800" b="0" i="0" dirty="0">
              <a:solidFill>
                <a:srgbClr val="030303"/>
              </a:solidFill>
              <a:effectLst/>
              <a:latin typeface="Comic Sans MS" panose="030F0702030302020204" pitchFamily="66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0488" y="1920240"/>
            <a:ext cx="5197032" cy="4195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68921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1821" y="1402144"/>
            <a:ext cx="8427163" cy="5455856"/>
          </a:xfrm>
          <a:prstGeom prst="rect">
            <a:avLst/>
          </a:prstGeom>
        </p:spPr>
      </p:pic>
      <p:sp>
        <p:nvSpPr>
          <p:cNvPr id="6" name="Заголовок 1">
            <a:extLst>
              <a:ext uri="{FF2B5EF4-FFF2-40B4-BE49-F238E27FC236}">
                <a16:creationId xmlns="" xmlns:a16="http://schemas.microsoft.com/office/drawing/2014/main" id="{3DAAC47C-B355-428A-9730-3DCA6782D9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7210" y="-76426"/>
            <a:ext cx="7644050" cy="1478570"/>
          </a:xfrm>
        </p:spPr>
        <p:txBody>
          <a:bodyPr>
            <a:normAutofit/>
          </a:bodyPr>
          <a:lstStyle/>
          <a:p>
            <a:pPr algn="ctr"/>
            <a:r>
              <a:rPr lang="ru-RU" sz="4400" dirty="0">
                <a:solidFill>
                  <a:srgbClr val="030303"/>
                </a:solidFill>
                <a:latin typeface="Comic Sans MS" panose="030F0702030302020204" pitchFamily="66" charset="0"/>
              </a:rPr>
              <a:t>Блок-схема работы программы</a:t>
            </a:r>
            <a:endParaRPr lang="ru-RU" dirty="0">
              <a:solidFill>
                <a:srgbClr val="030303"/>
              </a:solidFill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23294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01A03B06-BEF2-43A3-A9AB-E4843A7043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dirty="0">
                <a:solidFill>
                  <a:srgbClr val="030303"/>
                </a:solidFill>
                <a:latin typeface="Comic Sans MS" panose="030F0702030302020204" pitchFamily="66" charset="0"/>
              </a:rPr>
              <a:t>заключение: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="" xmlns:a16="http://schemas.microsoft.com/office/drawing/2014/main" id="{6CEBD85F-9EA0-4F9F-90A0-9CE478AB59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2590864"/>
            <a:ext cx="9905998" cy="245662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800" dirty="0">
                <a:solidFill>
                  <a:srgbClr val="030303"/>
                </a:solidFill>
                <a:latin typeface="Comic Sans MS" panose="030F0702030302020204" pitchFamily="66" charset="0"/>
              </a:rPr>
              <a:t>Разработанное приложение "Интерактивная 3D-модель электродвигателя" успешно решает поставленную задачу создания современного цифрового образовательного ресурса для школьного курса физики.</a:t>
            </a:r>
          </a:p>
        </p:txBody>
      </p:sp>
    </p:spTree>
    <p:extLst>
      <p:ext uri="{BB962C8B-B14F-4D97-AF65-F5344CB8AC3E}">
        <p14:creationId xmlns:p14="http://schemas.microsoft.com/office/powerpoint/2010/main" val="23813091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F505A6A9-6908-44F5-96BE-4E2260F95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1482570"/>
            <a:ext cx="9905998" cy="1660124"/>
          </a:xfrm>
        </p:spPr>
        <p:txBody>
          <a:bodyPr>
            <a:normAutofit/>
          </a:bodyPr>
          <a:lstStyle/>
          <a:p>
            <a:pPr algn="ctr"/>
            <a:r>
              <a:rPr lang="ru-RU" sz="4000" dirty="0">
                <a:solidFill>
                  <a:srgbClr val="030303"/>
                </a:solidFill>
                <a:latin typeface="Comic Sans MS" panose="030F0702030302020204" pitchFamily="66" charset="0"/>
              </a:rPr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313236449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Контур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{41AD7E56-4B52-406A-BEDC-856F3819B4A7}TF6d5feb1e-e145-43f1-b745-cb4b54c5ee9733a8a5b4-7ba003f5bf80</Template>
  <TotalTime>765</TotalTime>
  <Words>129</Words>
  <Application>Microsoft Office PowerPoint</Application>
  <PresentationFormat>Широкоэкранный</PresentationFormat>
  <Paragraphs>39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Arial</vt:lpstr>
      <vt:lpstr>Comic Sans MS</vt:lpstr>
      <vt:lpstr>Trebuchet MS</vt:lpstr>
      <vt:lpstr>Tw Cen MT</vt:lpstr>
      <vt:lpstr>Контур</vt:lpstr>
      <vt:lpstr>Создание виртуальной учебной модели электродвигателя</vt:lpstr>
      <vt:lpstr>Цель проекта:</vt:lpstr>
      <vt:lpstr>Презентация PowerPoint</vt:lpstr>
      <vt:lpstr>Задачи  Проекта</vt:lpstr>
      <vt:lpstr>Этапы создания  Проекта</vt:lpstr>
      <vt:lpstr>Создание модели</vt:lpstr>
      <vt:lpstr>Создание Программы</vt:lpstr>
      <vt:lpstr>Блок-схема работы программы</vt:lpstr>
      <vt:lpstr>заключение:</vt:lpstr>
      <vt:lpstr>Спасибо за внимание!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Создание учебной модели электродвигателя</dc:title>
  <dc:creator>Admin</dc:creator>
  <cp:lastModifiedBy>Владимир Зинчук</cp:lastModifiedBy>
  <cp:revision>45</cp:revision>
  <dcterms:created xsi:type="dcterms:W3CDTF">2025-12-07T13:34:12Z</dcterms:created>
  <dcterms:modified xsi:type="dcterms:W3CDTF">2026-03-04T12:00:29Z</dcterms:modified>
</cp:coreProperties>
</file>